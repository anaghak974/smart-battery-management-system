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ileron Bold" charset="1" panose="00000800000000000000"/>
      <p:regular r:id="rId21"/>
    </p:embeddedFont>
    <p:embeddedFont>
      <p:font typeface="Aileron Light" charset="1" panose="00000400000000000000"/>
      <p:regular r:id="rId22"/>
    </p:embeddedFont>
    <p:embeddedFont>
      <p:font typeface="Aileron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333" r="0" b="-933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07085" y="2179863"/>
            <a:ext cx="10673839" cy="337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15"/>
              </a:lnSpc>
            </a:pPr>
            <a:r>
              <a:rPr lang="en-US" b="true" sz="8270" spc="38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BATTERY MANAGEMENT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53736" y="7921542"/>
            <a:ext cx="7580528" cy="35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751" spc="221" u="sng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GROUP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12703" y="8312410"/>
            <a:ext cx="2462594" cy="161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b="true" sz="2400" spc="1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GOKUL</a:t>
            </a:r>
          </a:p>
          <a:p>
            <a:pPr algn="ctr">
              <a:lnSpc>
                <a:spcPts val="2616"/>
              </a:lnSpc>
            </a:pPr>
            <a:r>
              <a:rPr lang="en-US" b="true" sz="2400" spc="1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JOSH</a:t>
            </a:r>
          </a:p>
          <a:p>
            <a:pPr algn="ctr">
              <a:lnSpc>
                <a:spcPts val="2616"/>
              </a:lnSpc>
            </a:pPr>
            <a:r>
              <a:rPr lang="en-US" b="true" sz="2400" spc="1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ANAGHA</a:t>
            </a:r>
          </a:p>
          <a:p>
            <a:pPr algn="ctr">
              <a:lnSpc>
                <a:spcPts val="2616"/>
              </a:lnSpc>
            </a:pPr>
            <a:r>
              <a:rPr lang="en-US" b="true" sz="2400" spc="1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DARSHANA</a:t>
            </a:r>
          </a:p>
          <a:p>
            <a:pPr algn="ctr">
              <a:lnSpc>
                <a:spcPts val="2616"/>
              </a:lnSpc>
            </a:pPr>
            <a:r>
              <a:rPr lang="en-US" b="true" sz="2400" spc="1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ANAMIKHA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3668" y="7402859"/>
            <a:ext cx="18451668" cy="3020006"/>
            <a:chOff x="0" y="0"/>
            <a:chExt cx="24602224" cy="4026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02187" cy="4026662"/>
            </a:xfrm>
            <a:custGeom>
              <a:avLst/>
              <a:gdLst/>
              <a:ahLst/>
              <a:cxnLst/>
              <a:rect r="r" b="b" t="t" l="l"/>
              <a:pathLst>
                <a:path h="4026662" w="24602187">
                  <a:moveTo>
                    <a:pt x="0" y="0"/>
                  </a:moveTo>
                  <a:lnTo>
                    <a:pt x="24602187" y="0"/>
                  </a:lnTo>
                  <a:lnTo>
                    <a:pt x="24602187" y="4026662"/>
                  </a:lnTo>
                  <a:lnTo>
                    <a:pt x="0" y="4026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5349" r="0" b="-25534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162050"/>
            <a:ext cx="9700479" cy="189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b="true" sz="6976" spc="3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2882" y="2926671"/>
            <a:ext cx="15014257" cy="443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Lithium-Ion Instability: Lithium-ion cells have narrow safety margins. Overcharging them or exposing them to excessive heat can lead to catastrophic thermal runaway, fires, or explosions.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Irreversible Cell Degradation: Drawing too much power or allowing the pack voltage to drop below critical thresholds permanently damages the internal chemistry, destroying the battery's capacity and lifespan.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Blind System Operation: Microcontrollers and external loads cannot natively read raw battery conditions, leaving the host system completely unaware of imminent power failures or critical hazards.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Engineering Objective: To design and implement a low-cost, automated Battery Management System (BMS) that continuously monitors physical cell parameters — including voltage, current, and temperature — and executes rapid load disconnection to protect the battery pack during fault conditions.</a:t>
            </a:r>
          </a:p>
          <a:p>
            <a:pPr algn="l" marL="514203" indent="-171401" lvl="2">
              <a:lnSpc>
                <a:spcPts val="3149"/>
              </a:lnSpc>
            </a:pPr>
          </a:p>
          <a:p>
            <a:pPr algn="l" marL="514203" indent="-171401" lvl="2">
              <a:lnSpc>
                <a:spcPts val="314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21305" y="1138961"/>
            <a:ext cx="3898716" cy="2924042"/>
            <a:chOff x="0" y="0"/>
            <a:chExt cx="5198288" cy="3898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8237" cy="3898773"/>
            </a:xfrm>
            <a:custGeom>
              <a:avLst/>
              <a:gdLst/>
              <a:ahLst/>
              <a:cxnLst/>
              <a:rect r="r" b="b" t="t" l="l"/>
              <a:pathLst>
                <a:path h="3898773" w="5198237">
                  <a:moveTo>
                    <a:pt x="0" y="0"/>
                  </a:moveTo>
                  <a:lnTo>
                    <a:pt x="5198237" y="0"/>
                  </a:lnTo>
                  <a:lnTo>
                    <a:pt x="5198237" y="3898773"/>
                  </a:lnTo>
                  <a:lnTo>
                    <a:pt x="0" y="389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89168" y="3796132"/>
            <a:ext cx="2694737" cy="2694737"/>
            <a:chOff x="0" y="0"/>
            <a:chExt cx="3592982" cy="35929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92957" cy="3592957"/>
            </a:xfrm>
            <a:custGeom>
              <a:avLst/>
              <a:gdLst/>
              <a:ahLst/>
              <a:cxnLst/>
              <a:rect r="r" b="b" t="t" l="l"/>
              <a:pathLst>
                <a:path h="3592957" w="3592957">
                  <a:moveTo>
                    <a:pt x="0" y="0"/>
                  </a:moveTo>
                  <a:lnTo>
                    <a:pt x="3592957" y="0"/>
                  </a:lnTo>
                  <a:lnTo>
                    <a:pt x="3592957" y="3592957"/>
                  </a:lnTo>
                  <a:lnTo>
                    <a:pt x="0" y="3592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46778" y="6334811"/>
            <a:ext cx="3647780" cy="3706616"/>
            <a:chOff x="0" y="0"/>
            <a:chExt cx="4863706" cy="49421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63719" cy="4942205"/>
            </a:xfrm>
            <a:custGeom>
              <a:avLst/>
              <a:gdLst/>
              <a:ahLst/>
              <a:cxnLst/>
              <a:rect r="r" b="b" t="t" l="l"/>
              <a:pathLst>
                <a:path h="4942205" w="4863719">
                  <a:moveTo>
                    <a:pt x="0" y="0"/>
                  </a:moveTo>
                  <a:lnTo>
                    <a:pt x="4863719" y="0"/>
                  </a:lnTo>
                  <a:lnTo>
                    <a:pt x="4863719" y="4942205"/>
                  </a:lnTo>
                  <a:lnTo>
                    <a:pt x="0" y="4942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511370"/>
            <a:ext cx="9251528" cy="69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8"/>
              </a:lnSpc>
            </a:pPr>
            <a:r>
              <a:rPr lang="en-US" b="true" sz="5320" spc="2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COMPONENTS REQUIRED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0984" y="2405701"/>
            <a:ext cx="9868062" cy="165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Arduino Uno R3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Brain: Central microprocessing hub for the whole BMS.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ADC Reader: Converts 0V-5V analog signals into digital data 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Pins: Inputs data via pins A0-A2; outputs trip signals via pins D2-D3.</a:t>
            </a:r>
          </a:p>
          <a:p>
            <a:pPr algn="l" marL="420703" indent="-140234" lvl="2">
              <a:lnSpc>
                <a:spcPts val="257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263028"/>
            <a:ext cx="9868062" cy="165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ACS712 Current Module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Amperage Tracker: Measures current flowing in or out of the battery pack.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Hall Effect: Translates magnetic fields from current into readable voltage.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0A Baseline: Outputs exactly 2.5V when no current is moving.</a:t>
            </a:r>
          </a:p>
          <a:p>
            <a:pPr algn="l" marL="420703" indent="-140234" lvl="2">
              <a:lnSpc>
                <a:spcPts val="257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258611"/>
            <a:ext cx="10849813" cy="295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LM35 Temperature Sensor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Heat Sentinel: Placed directly near cells to continuously monitor battery temperature and catch overheating in real time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Direct Voltage Output: Outputs exactly 10mV per °C — no resistance conversion needed unlike NTC thermistor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Simple Connection: Only 3 pins needed — VCC, OUT and GND — no pull up resistor required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Accurate Reading: Gives precise temperature readings with ±0.5°C accuracy directly to Arduino A2 in range 0°C to 100°C</a:t>
            </a:r>
          </a:p>
          <a:p>
            <a:pPr algn="l" marL="420703" indent="-140234" lvl="2">
              <a:lnSpc>
                <a:spcPts val="257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34474" y="5143500"/>
            <a:ext cx="4147271" cy="2436524"/>
            <a:chOff x="0" y="0"/>
            <a:chExt cx="5529694" cy="3248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707" cy="3248660"/>
            </a:xfrm>
            <a:custGeom>
              <a:avLst/>
              <a:gdLst/>
              <a:ahLst/>
              <a:cxnLst/>
              <a:rect r="r" b="b" t="t" l="l"/>
              <a:pathLst>
                <a:path h="3248660" w="5529707">
                  <a:moveTo>
                    <a:pt x="0" y="0"/>
                  </a:moveTo>
                  <a:lnTo>
                    <a:pt x="5529707" y="0"/>
                  </a:lnTo>
                  <a:lnTo>
                    <a:pt x="5529707" y="3248660"/>
                  </a:lnTo>
                  <a:lnTo>
                    <a:pt x="0" y="3248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75026" y="1142171"/>
            <a:ext cx="4069090" cy="4106647"/>
            <a:chOff x="0" y="0"/>
            <a:chExt cx="5425453" cy="54755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25440" cy="5475478"/>
            </a:xfrm>
            <a:custGeom>
              <a:avLst/>
              <a:gdLst/>
              <a:ahLst/>
              <a:cxnLst/>
              <a:rect r="r" b="b" t="t" l="l"/>
              <a:pathLst>
                <a:path h="5475478" w="5425440">
                  <a:moveTo>
                    <a:pt x="0" y="0"/>
                  </a:moveTo>
                  <a:lnTo>
                    <a:pt x="5425440" y="0"/>
                  </a:lnTo>
                  <a:lnTo>
                    <a:pt x="5425440" y="5475478"/>
                  </a:lnTo>
                  <a:lnTo>
                    <a:pt x="0" y="5475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511370"/>
            <a:ext cx="9251528" cy="69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8"/>
              </a:lnSpc>
            </a:pPr>
            <a:r>
              <a:rPr lang="en-US" b="true" sz="5320" spc="2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COMPONENTS REQUIRED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09267"/>
            <a:ext cx="10256253" cy="295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5V Single-Channel Relay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Circuit Breaker: Acts as a heavy-duty isolation switch during a fault condition, physically disconnecting the load from the battery pack.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Electromagnetic Operation: Low-power Arduino digital pin (D2) trips an internal coil to snap the contacts open, requiring minimal current to control high-power circuits.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Load Protection: When a fault is detected — overcurrent, overvoltage, undervoltage or overtemperature — the relay immediately disconnects the DC motor load to protect the battery pack.</a:t>
            </a:r>
          </a:p>
          <a:p>
            <a:pPr algn="l" marL="420703" indent="-140234" lvl="2">
              <a:lnSpc>
                <a:spcPts val="257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31056" y="5172627"/>
            <a:ext cx="11204410" cy="198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18650 Lithium-Ion Battery Pack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Powerhouse: Main energy source being monitored and protected.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Cell Configuration: 2S configuration (2 cells in series) giving an 8.4V}peak.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Voltage Limits: Operates strictly between 6.0V (empty) and 8.4V (full).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Risk: Highly sensitive to over-discharge, over-charge, and fire risks (thermal runaway).</a:t>
            </a:r>
          </a:p>
          <a:p>
            <a:pPr algn="l" marL="420703" indent="-140234" lvl="2">
              <a:lnSpc>
                <a:spcPts val="257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31056" y="7355776"/>
            <a:ext cx="11503419" cy="230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Voltage Divider Network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Voltage Scaler: Drops the raw battery pack voltage to a safe readable level for the Arduino analog pin.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Resistor Pair: Uses two series resistors — 30kΩ and 10kΩ — to step down the maximum battery voltage of 8.4V to approximately 2.1V at the midpoint.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Protection: Keeps the analog input voltage safely under 5V to prevent damage to the Arduino's ADC pin, while maintaining accurate proportional voltage readings.</a:t>
            </a:r>
          </a:p>
          <a:p>
            <a:pPr algn="l" marL="420703" indent="-140234" lvl="2">
              <a:lnSpc>
                <a:spcPts val="257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10284" y="1229601"/>
            <a:ext cx="5631571" cy="3185065"/>
            <a:chOff x="0" y="0"/>
            <a:chExt cx="7508761" cy="4246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8748" cy="4246753"/>
            </a:xfrm>
            <a:custGeom>
              <a:avLst/>
              <a:gdLst/>
              <a:ahLst/>
              <a:cxnLst/>
              <a:rect r="r" b="b" t="t" l="l"/>
              <a:pathLst>
                <a:path h="4246753" w="7508748">
                  <a:moveTo>
                    <a:pt x="0" y="0"/>
                  </a:moveTo>
                  <a:lnTo>
                    <a:pt x="7508748" y="0"/>
                  </a:lnTo>
                  <a:lnTo>
                    <a:pt x="7508748" y="4246753"/>
                  </a:lnTo>
                  <a:lnTo>
                    <a:pt x="0" y="4246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81894" y="4965421"/>
            <a:ext cx="2888351" cy="2112769"/>
            <a:chOff x="0" y="0"/>
            <a:chExt cx="3851135" cy="28170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51148" cy="2816987"/>
            </a:xfrm>
            <a:custGeom>
              <a:avLst/>
              <a:gdLst/>
              <a:ahLst/>
              <a:cxnLst/>
              <a:rect r="r" b="b" t="t" l="l"/>
              <a:pathLst>
                <a:path h="2816987" w="3851148">
                  <a:moveTo>
                    <a:pt x="0" y="0"/>
                  </a:moveTo>
                  <a:lnTo>
                    <a:pt x="3851148" y="0"/>
                  </a:lnTo>
                  <a:lnTo>
                    <a:pt x="3851148" y="2816987"/>
                  </a:lnTo>
                  <a:lnTo>
                    <a:pt x="0" y="2816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22351" y="6945135"/>
            <a:ext cx="3807428" cy="3226870"/>
            <a:chOff x="0" y="0"/>
            <a:chExt cx="5076571" cy="43024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76571" cy="4302506"/>
            </a:xfrm>
            <a:custGeom>
              <a:avLst/>
              <a:gdLst/>
              <a:ahLst/>
              <a:cxnLst/>
              <a:rect r="r" b="b" t="t" l="l"/>
              <a:pathLst>
                <a:path h="4302506" w="5076571">
                  <a:moveTo>
                    <a:pt x="0" y="0"/>
                  </a:moveTo>
                  <a:lnTo>
                    <a:pt x="5076571" y="0"/>
                  </a:lnTo>
                  <a:lnTo>
                    <a:pt x="5076571" y="4302506"/>
                  </a:lnTo>
                  <a:lnTo>
                    <a:pt x="0" y="4302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" r="0" b="-5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16077" y="738597"/>
            <a:ext cx="9251528" cy="69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8"/>
              </a:lnSpc>
            </a:pPr>
            <a:r>
              <a:rPr lang="en-US" b="true" sz="5320" spc="2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COMPONENTS REQUIRED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6822" y="1425854"/>
            <a:ext cx="11081490" cy="3285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DS3231 RTC Module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Precision Timekeeper: Maintains exact real time using built in crystal oscillator — far more accurate than NE555 timer which drifts with temperature and component tolerance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I2C Communication: Connects to Arduino via only 2 wires — SDA on A4 and SCL on A5 — for two way data exchange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Alarm Function: Arduino sets precise 3 minute recovery alarm inside RTC via I2C before tripping relay during fault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Always Accurate: After exactly 3 minutes RTC notifies Arduino to restore power — no hardware resistors or capacitors needed to set time, just change a number in code</a:t>
            </a:r>
          </a:p>
          <a:p>
            <a:pPr algn="l" marL="420703" indent="-140234" lvl="2">
              <a:lnSpc>
                <a:spcPts val="257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86822" y="4635217"/>
            <a:ext cx="11906726" cy="295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AMS1117 5V Voltage Regulator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Stable Power Supply: Converts fluctuating battery voltage 7.4V - 8.4V into clean stable 5V to keep Arduino always powered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Direct Battery Connection: Connected directly to battery positive — completely independent from relay switching — ensuring Arduino never loses power during fault or recovery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Protection: Shields Arduino from voltage spikes and fluctuations that could cause crashes or damage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Always Alive: Since Arduino is continuously powered via AMS1117, it can monitor sensors, count recovery time and control relay entirely on its own without needing external recovery components</a:t>
            </a:r>
          </a:p>
          <a:p>
            <a:pPr algn="l" marL="420703" indent="-140234" lvl="2">
              <a:lnSpc>
                <a:spcPts val="257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86822" y="7405621"/>
            <a:ext cx="11906726" cy="165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SD Card Module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Data Logger: Records every fault event with exact timestamp, fault type, voltage, current and temperature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SPI Communication: Uses 4 wire SPI protocol on Arduino pins D11, D12, D13 and D10</a:t>
            </a:r>
          </a:p>
          <a:p>
            <a:pPr algn="l" marL="420703" indent="-140234" lvl="2">
              <a:lnSpc>
                <a:spcPts val="2577"/>
              </a:lnSpc>
              <a:buFont typeface="Arial"/>
              <a:buChar char="⚬"/>
            </a:pPr>
            <a:r>
              <a:rPr lang="en-US" sz="1840" spc="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Permanent Storage: Saves data to microSD in CSV format readable on any computer</a:t>
            </a:r>
          </a:p>
          <a:p>
            <a:pPr algn="l" marL="420703" indent="-140234" lvl="2">
              <a:lnSpc>
                <a:spcPts val="257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822" y="488909"/>
            <a:ext cx="9700479" cy="92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b="true" sz="6976" spc="3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WORKING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6822" y="1449400"/>
            <a:ext cx="17443352" cy="842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Stage 1: Raw Data Collection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Continuous Sampling: Sensors directly track battery pack's physical state in real time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Voltage Scaling: Voltage divider steps down battery voltage 6.0V - 8.4V into safe 0V - 2.1V window for Arduino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Signal Routing: Scaled voltage from divider, current readings from ACS712, and temperature from LM35 sent to Arduino pins A0, A1, and A2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Power Regulation: AMS1117 5V regulator converts battery voltage directly to stable 5V keeping Arduino always alive</a:t>
            </a:r>
          </a:p>
          <a:p>
            <a:pPr algn="l" marL="514203" indent="-171401" lvl="2">
              <a:lnSpc>
                <a:spcPts val="3149"/>
              </a:lnSpc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Stage 2: Logic Evaluation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ADC Conversion: Arduino Uno converts incoming analog signals into digital values 0 to 1023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Unit Translation: Internal code applies math formulas to convert digital numbers into Volts, Amps and degrees Celsius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Threshold Checking: Code runs continuous loop comparing live values against built in safety limits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RTC Timekeeping: DS3231 RTC communicates with Arduino via I2C on pins A4 and A5 maintaining precise time tracking</a:t>
            </a:r>
          </a:p>
          <a:p>
            <a:pPr algn="l" marL="514203" indent="-171401" lvl="2">
              <a:lnSpc>
                <a:spcPts val="3149"/>
              </a:lnSpc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Stage 3: Fault Execution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Over Voltage / Over Heat Fault: If voltage exceeds 8.4V or temperature crosses 45°C Arduino sends HIGH signal to D2 tripping relay and disconnecting motor load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Under Voltage / Over Current Fault: If voltage drops below 6.0V or current exceeds 5A Arduino triggers relay to disconnect load preventing further cell damage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Fault Logging: Arduino sets precise 3 minute recovery alarm in RTC via I2C before cutting power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Auto Recovery: After exactly 3 minutes RTC notifies Arduino via I2C, Arduino sets D2 LOW, relay closes, motor restarts and sensor check begins again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System Status: If all variables within safe limits relay remains closed and motor operates normally ✅</a:t>
            </a:r>
          </a:p>
          <a:p>
            <a:pPr algn="l" marL="514203" indent="-171401" lvl="2">
              <a:lnSpc>
                <a:spcPts val="314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7196" y="1342101"/>
            <a:ext cx="10694689" cy="8185709"/>
            <a:chOff x="0" y="0"/>
            <a:chExt cx="14259585" cy="109142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9561" cy="10914253"/>
            </a:xfrm>
            <a:custGeom>
              <a:avLst/>
              <a:gdLst/>
              <a:ahLst/>
              <a:cxnLst/>
              <a:rect r="r" b="b" t="t" l="l"/>
              <a:pathLst>
                <a:path h="10914253" w="14259561">
                  <a:moveTo>
                    <a:pt x="0" y="0"/>
                  </a:moveTo>
                  <a:lnTo>
                    <a:pt x="14259561" y="0"/>
                  </a:lnTo>
                  <a:lnTo>
                    <a:pt x="14259561" y="10914253"/>
                  </a:lnTo>
                  <a:lnTo>
                    <a:pt x="0" y="10914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28873" y="329717"/>
            <a:ext cx="3592116" cy="40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6"/>
              </a:lnSpc>
            </a:pPr>
            <a:r>
              <a:rPr lang="en-US" b="true" sz="3199" spc="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BLOCK 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338" r="0" b="-933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55917" y="2074069"/>
            <a:ext cx="14268650" cy="6349546"/>
            <a:chOff x="0" y="0"/>
            <a:chExt cx="19024867" cy="8466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24854" cy="8466074"/>
            </a:xfrm>
            <a:custGeom>
              <a:avLst/>
              <a:gdLst/>
              <a:ahLst/>
              <a:cxnLst/>
              <a:rect r="r" b="b" t="t" l="l"/>
              <a:pathLst>
                <a:path h="8466074" w="19024854">
                  <a:moveTo>
                    <a:pt x="0" y="0"/>
                  </a:moveTo>
                  <a:lnTo>
                    <a:pt x="19024854" y="0"/>
                  </a:lnTo>
                  <a:lnTo>
                    <a:pt x="19024854" y="8466074"/>
                  </a:lnTo>
                  <a:lnTo>
                    <a:pt x="0" y="8466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-778650" y="407175"/>
            <a:ext cx="7580528" cy="35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751" spc="221" u="sng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IMPLEMENTATION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338" r="0" b="-933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53174" y="1028700"/>
            <a:ext cx="10476157" cy="9258300"/>
            <a:chOff x="0" y="0"/>
            <a:chExt cx="13968209" cy="1234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68222" cy="12344400"/>
            </a:xfrm>
            <a:custGeom>
              <a:avLst/>
              <a:gdLst/>
              <a:ahLst/>
              <a:cxnLst/>
              <a:rect r="r" b="b" t="t" l="l"/>
              <a:pathLst>
                <a:path h="12344400" w="13968222">
                  <a:moveTo>
                    <a:pt x="0" y="0"/>
                  </a:moveTo>
                  <a:lnTo>
                    <a:pt x="13968222" y="0"/>
                  </a:lnTo>
                  <a:lnTo>
                    <a:pt x="13968222" y="12344400"/>
                  </a:lnTo>
                  <a:lnTo>
                    <a:pt x="0" y="1234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-1433151" y="478307"/>
            <a:ext cx="7580528" cy="35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751" spc="221" u="sng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CIRCUIT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338" r="0" b="-933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3052" y="900738"/>
            <a:ext cx="17662058" cy="9083344"/>
          </a:xfrm>
          <a:custGeom>
            <a:avLst/>
            <a:gdLst/>
            <a:ahLst/>
            <a:cxnLst/>
            <a:rect r="r" b="b" t="t" l="l"/>
            <a:pathLst>
              <a:path h="9083344" w="17662058">
                <a:moveTo>
                  <a:pt x="0" y="0"/>
                </a:moveTo>
                <a:lnTo>
                  <a:pt x="17662058" y="0"/>
                </a:lnTo>
                <a:lnTo>
                  <a:pt x="17662058" y="9083344"/>
                </a:lnTo>
                <a:lnTo>
                  <a:pt x="0" y="9083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9569" y="920172"/>
            <a:ext cx="17013812" cy="92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b="true" sz="6976" spc="3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ADVANTAGES AND DISADVANTAGES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0646" y="2545842"/>
            <a:ext cx="15835551" cy="602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Advantages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Low Cost: Uses readily available components — Arduino, relay, ACS712 — keeping the total build cost minimal.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Real-Time Protection: Continuously monitors voltage, current and temperature simultaneously, reacting instantly to faults.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Modular Design: Each sensor operates independently, making it easy to troubleshoot or replace individual components.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Open Source: Arduino platform allows full code customization and easy future upgrades.</a:t>
            </a:r>
          </a:p>
          <a:p>
            <a:pPr algn="l" marL="514203" indent="-171401" lvl="2">
              <a:lnSpc>
                <a:spcPts val="3149"/>
              </a:lnSpc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Disadvantages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 Cell Balancing: Cannot manage individual cell voltages in a multi-cell pack, leading to gradual cell mismatch over time.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Load Only Protection: Current design only disconnects the load during a fault — charger isolation requires additional hardware.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Analog Noise: Analog sensor readings are susceptible to electrical noise which can cause false fault triggers.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 SoC Estimation: Cannot calculate precise battery percentage — only monitors raw voltage as an approximation.</a:t>
            </a:r>
          </a:p>
          <a:p>
            <a:pPr algn="l" marL="514203" indent="-171401" lvl="2">
              <a:lnSpc>
                <a:spcPts val="314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62050"/>
            <a:ext cx="9700479" cy="92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b="true" sz="6976" spc="3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89653"/>
            <a:ext cx="15835551" cy="522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1. Digital Protocols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CAN-bus / I2C: Upgrade from simple analog wires to a high-speed digital data bus.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Benefit: Eliminates electrical noise and allows communication with industrial microcontrollers.</a:t>
            </a:r>
          </a:p>
          <a:p>
            <a:pPr algn="l" marL="514203" indent="-171401" lvl="2">
              <a:lnSpc>
                <a:spcPts val="3149"/>
              </a:lnSpc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2. Active Cell Balancing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Individual Monitoring: Track and manage the voltage of each individual 18650 cell.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Energy Transfer: Actively move power from stronger cells to weaker cells to maximize the pack's lifespan.</a:t>
            </a:r>
          </a:p>
          <a:p>
            <a:pPr algn="l" marL="514203" indent="-171401" lvl="2">
              <a:lnSpc>
                <a:spcPts val="3149"/>
              </a:lnSpc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3. IoT &amp; Wireless Monitoring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ESP32 Upgrade: Swap the Arduino Uno for an ESP32 microchip with onboard Wi-Fi and Bluetooth.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Cloud Dashboard: Stream live battery data directly to a mobile app or remote web server.</a:t>
            </a:r>
          </a:p>
          <a:p>
            <a:pPr algn="l" marL="514203" indent="-171401" lvl="2">
              <a:lnSpc>
                <a:spcPts val="3149"/>
              </a:lnSpc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4. Smart State-of-Charge (SoC)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Coulomb Counting: Track the exact quantity of electrical charge entering and leaving the pack.</a:t>
            </a:r>
          </a:p>
          <a:p>
            <a:pPr algn="l" marL="514203" indent="-171401" lvl="2">
              <a:lnSpc>
                <a:spcPts val="3149"/>
              </a:lnSpc>
              <a:buFont typeface="Arial"/>
              <a:buChar char="⚬"/>
            </a:pPr>
            <a:r>
              <a:rPr lang="en-US" sz="2249" spc="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Accuracy: Replaces basic voltage-guessing with a precise, smartphone-like battery percentage.</a:t>
            </a:r>
          </a:p>
          <a:p>
            <a:pPr algn="l" marL="514203" indent="-171401" lvl="2">
              <a:lnSpc>
                <a:spcPts val="314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9650" y="1490673"/>
            <a:ext cx="12898318" cy="7767627"/>
          </a:xfrm>
          <a:custGeom>
            <a:avLst/>
            <a:gdLst/>
            <a:ahLst/>
            <a:cxnLst/>
            <a:rect r="r" b="b" t="t" l="l"/>
            <a:pathLst>
              <a:path h="7767627" w="12898318">
                <a:moveTo>
                  <a:pt x="0" y="0"/>
                </a:moveTo>
                <a:lnTo>
                  <a:pt x="12898319" y="0"/>
                </a:lnTo>
                <a:lnTo>
                  <a:pt x="12898319" y="7767627"/>
                </a:lnTo>
                <a:lnTo>
                  <a:pt x="0" y="77676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812" y="497718"/>
            <a:ext cx="5600581" cy="99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b="true" sz="6976" spc="3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SCHEMATIC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6906" y="1499728"/>
            <a:ext cx="13621943" cy="8328772"/>
          </a:xfrm>
          <a:custGeom>
            <a:avLst/>
            <a:gdLst/>
            <a:ahLst/>
            <a:cxnLst/>
            <a:rect r="r" b="b" t="t" l="l"/>
            <a:pathLst>
              <a:path h="8328772" w="13621943">
                <a:moveTo>
                  <a:pt x="0" y="0"/>
                </a:moveTo>
                <a:lnTo>
                  <a:pt x="13621944" y="0"/>
                </a:lnTo>
                <a:lnTo>
                  <a:pt x="13621944" y="8328772"/>
                </a:lnTo>
                <a:lnTo>
                  <a:pt x="0" y="8328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812" y="497718"/>
            <a:ext cx="1894642" cy="99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b="true" sz="6976" spc="3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PCB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7690" y="1270623"/>
            <a:ext cx="14525270" cy="8698354"/>
          </a:xfrm>
          <a:custGeom>
            <a:avLst/>
            <a:gdLst/>
            <a:ahLst/>
            <a:cxnLst/>
            <a:rect r="r" b="b" t="t" l="l"/>
            <a:pathLst>
              <a:path h="8698354" w="14525270">
                <a:moveTo>
                  <a:pt x="0" y="0"/>
                </a:moveTo>
                <a:lnTo>
                  <a:pt x="14525270" y="0"/>
                </a:lnTo>
                <a:lnTo>
                  <a:pt x="14525270" y="8698354"/>
                </a:lnTo>
                <a:lnTo>
                  <a:pt x="0" y="8698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812" y="497718"/>
            <a:ext cx="1284446" cy="99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b="true" sz="6976" spc="3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3D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DAHLP0gmbCw</dc:identifier>
  <dcterms:modified xsi:type="dcterms:W3CDTF">2011-08-01T06:04:30Z</dcterms:modified>
  <cp:revision>1</cp:revision>
  <dc:title>BATTERY MANAGEMENT SYSTEM FINAL.pptx</dc:title>
</cp:coreProperties>
</file>